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154F9-C629-4896-A507-DD255F5ACEDC}" v="124" dt="2026-04-09T08:24:24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F18B6-6418-4926-9921-AED13E5F5AF1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8D5E6F6-19D5-4F9A-9659-9037252F1074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The</a:t>
          </a:r>
          <a:r>
            <a:rPr lang="en-US"/>
            <a:t> Objective</a:t>
          </a:r>
          <a:r>
            <a:rPr lang="en-US">
              <a:latin typeface="Aptos Display" panose="020F0302020204030204"/>
            </a:rPr>
            <a:t>: </a:t>
          </a:r>
          <a:r>
            <a:rPr lang="en-US"/>
            <a:t>Transform a standard class project into a high-energy arcade experience </a:t>
          </a:r>
        </a:p>
      </dgm:t>
    </dgm:pt>
    <dgm:pt modelId="{E189F3BD-A146-4974-B35C-7D4DC7DBA04A}" type="parTrans" cxnId="{06DC4518-C6F3-4132-9F68-D8A5603346AB}">
      <dgm:prSet/>
      <dgm:spPr/>
      <dgm:t>
        <a:bodyPr/>
        <a:lstStyle/>
        <a:p>
          <a:endParaRPr lang="en-US"/>
        </a:p>
      </dgm:t>
    </dgm:pt>
    <dgm:pt modelId="{ED8E65A0-5499-4065-8050-D9BC9AF8B239}" type="sibTrans" cxnId="{06DC4518-C6F3-4132-9F68-D8A5603346AB}">
      <dgm:prSet/>
      <dgm:spPr/>
      <dgm:t>
        <a:bodyPr/>
        <a:lstStyle/>
        <a:p>
          <a:endParaRPr lang="en-US"/>
        </a:p>
      </dgm:t>
    </dgm:pt>
    <dgm:pt modelId="{0BE0C880-F43A-4483-BFD1-75CC93945354}">
      <dgm:prSet/>
      <dgm:spPr/>
      <dgm:t>
        <a:bodyPr/>
        <a:lstStyle/>
        <a:p>
          <a:pPr rtl="0"/>
          <a:r>
            <a:rPr lang="en-US"/>
            <a:t>The </a:t>
          </a:r>
          <a:r>
            <a:rPr lang="en-US">
              <a:latin typeface="Aptos Display" panose="020F0302020204030204"/>
            </a:rPr>
            <a:t>Approach</a:t>
          </a:r>
          <a:r>
            <a:rPr lang="en-US"/>
            <a:t>: Adding “Game Juice</a:t>
          </a:r>
          <a:r>
            <a:rPr lang="en-US">
              <a:latin typeface="Aptos Display" panose="020F0302020204030204"/>
            </a:rPr>
            <a:t>”: </a:t>
          </a:r>
          <a:r>
            <a:rPr lang="en-US"/>
            <a:t>feedback that makes gameplay feel satisfying</a:t>
          </a:r>
        </a:p>
      </dgm:t>
    </dgm:pt>
    <dgm:pt modelId="{B50DD2D4-94CD-4153-BE03-F003534A3D9A}" type="parTrans" cxnId="{C04EC38E-DEFC-4C01-80F5-72636531A878}">
      <dgm:prSet/>
      <dgm:spPr/>
      <dgm:t>
        <a:bodyPr/>
        <a:lstStyle/>
        <a:p>
          <a:endParaRPr lang="en-US"/>
        </a:p>
      </dgm:t>
    </dgm:pt>
    <dgm:pt modelId="{5D2BA208-6010-48ED-8ABB-DC9E2B3126FC}" type="sibTrans" cxnId="{C04EC38E-DEFC-4C01-80F5-72636531A878}">
      <dgm:prSet/>
      <dgm:spPr/>
      <dgm:t>
        <a:bodyPr/>
        <a:lstStyle/>
        <a:p>
          <a:endParaRPr lang="en-US"/>
        </a:p>
      </dgm:t>
    </dgm:pt>
    <dgm:pt modelId="{A4C1EF43-D4AD-42F0-83DE-7073E0760C8B}" type="pres">
      <dgm:prSet presAssocID="{EFEF18B6-6418-4926-9921-AED13E5F5AF1}" presName="diagram" presStyleCnt="0">
        <dgm:presLayoutVars>
          <dgm:dir/>
          <dgm:resizeHandles val="exact"/>
        </dgm:presLayoutVars>
      </dgm:prSet>
      <dgm:spPr/>
    </dgm:pt>
    <dgm:pt modelId="{19A777ED-24B6-4037-AC8E-03DEE1FB447F}" type="pres">
      <dgm:prSet presAssocID="{68D5E6F6-19D5-4F9A-9659-9037252F1074}" presName="node" presStyleLbl="node1" presStyleIdx="0" presStyleCnt="2">
        <dgm:presLayoutVars>
          <dgm:bulletEnabled val="1"/>
        </dgm:presLayoutVars>
      </dgm:prSet>
      <dgm:spPr/>
    </dgm:pt>
    <dgm:pt modelId="{97BC6167-3BD0-42E5-9CF7-249E0E9C9197}" type="pres">
      <dgm:prSet presAssocID="{ED8E65A0-5499-4065-8050-D9BC9AF8B239}" presName="sibTrans" presStyleCnt="0"/>
      <dgm:spPr/>
    </dgm:pt>
    <dgm:pt modelId="{96749C00-CFE2-4369-85AD-3440ECC474A2}" type="pres">
      <dgm:prSet presAssocID="{0BE0C880-F43A-4483-BFD1-75CC93945354}" presName="node" presStyleLbl="node1" presStyleIdx="1" presStyleCnt="2">
        <dgm:presLayoutVars>
          <dgm:bulletEnabled val="1"/>
        </dgm:presLayoutVars>
      </dgm:prSet>
      <dgm:spPr/>
    </dgm:pt>
  </dgm:ptLst>
  <dgm:cxnLst>
    <dgm:cxn modelId="{06DC4518-C6F3-4132-9F68-D8A5603346AB}" srcId="{EFEF18B6-6418-4926-9921-AED13E5F5AF1}" destId="{68D5E6F6-19D5-4F9A-9659-9037252F1074}" srcOrd="0" destOrd="0" parTransId="{E189F3BD-A146-4974-B35C-7D4DC7DBA04A}" sibTransId="{ED8E65A0-5499-4065-8050-D9BC9AF8B239}"/>
    <dgm:cxn modelId="{71D85D1B-755B-4045-8837-7A9AA37FB1A3}" type="presOf" srcId="{68D5E6F6-19D5-4F9A-9659-9037252F1074}" destId="{19A777ED-24B6-4037-AC8E-03DEE1FB447F}" srcOrd="0" destOrd="0" presId="urn:microsoft.com/office/officeart/2005/8/layout/default"/>
    <dgm:cxn modelId="{C04EC38E-DEFC-4C01-80F5-72636531A878}" srcId="{EFEF18B6-6418-4926-9921-AED13E5F5AF1}" destId="{0BE0C880-F43A-4483-BFD1-75CC93945354}" srcOrd="1" destOrd="0" parTransId="{B50DD2D4-94CD-4153-BE03-F003534A3D9A}" sibTransId="{5D2BA208-6010-48ED-8ABB-DC9E2B3126FC}"/>
    <dgm:cxn modelId="{F4EBD593-1D8E-4070-8A30-3B698E4CA073}" type="presOf" srcId="{EFEF18B6-6418-4926-9921-AED13E5F5AF1}" destId="{A4C1EF43-D4AD-42F0-83DE-7073E0760C8B}" srcOrd="0" destOrd="0" presId="urn:microsoft.com/office/officeart/2005/8/layout/default"/>
    <dgm:cxn modelId="{1A717EFB-6D39-461E-9085-35BBD1437FFA}" type="presOf" srcId="{0BE0C880-F43A-4483-BFD1-75CC93945354}" destId="{96749C00-CFE2-4369-85AD-3440ECC474A2}" srcOrd="0" destOrd="0" presId="urn:microsoft.com/office/officeart/2005/8/layout/default"/>
    <dgm:cxn modelId="{DB106FC7-B661-4409-85CF-F373DBE58559}" type="presParOf" srcId="{A4C1EF43-D4AD-42F0-83DE-7073E0760C8B}" destId="{19A777ED-24B6-4037-AC8E-03DEE1FB447F}" srcOrd="0" destOrd="0" presId="urn:microsoft.com/office/officeart/2005/8/layout/default"/>
    <dgm:cxn modelId="{F5F47F65-B85E-47B9-9898-AE6F3A2F3B86}" type="presParOf" srcId="{A4C1EF43-D4AD-42F0-83DE-7073E0760C8B}" destId="{97BC6167-3BD0-42E5-9CF7-249E0E9C9197}" srcOrd="1" destOrd="0" presId="urn:microsoft.com/office/officeart/2005/8/layout/default"/>
    <dgm:cxn modelId="{FF72F7B3-ECDF-442E-8F62-73D454302206}" type="presParOf" srcId="{A4C1EF43-D4AD-42F0-83DE-7073E0760C8B}" destId="{96749C00-CFE2-4369-85AD-3440ECC474A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777ED-24B6-4037-AC8E-03DEE1FB447F}">
      <dsp:nvSpPr>
        <dsp:cNvPr id="0" name=""/>
        <dsp:cNvSpPr/>
      </dsp:nvSpPr>
      <dsp:spPr>
        <a:xfrm>
          <a:off x="287964" y="1193"/>
          <a:ext cx="4567713" cy="2740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>
              <a:latin typeface="Aptos Display" panose="020F0302020204030204"/>
            </a:rPr>
            <a:t>The</a:t>
          </a:r>
          <a:r>
            <a:rPr lang="en-US" sz="3500" kern="1200"/>
            <a:t> Objective</a:t>
          </a:r>
          <a:r>
            <a:rPr lang="en-US" sz="3500" kern="1200">
              <a:latin typeface="Aptos Display" panose="020F0302020204030204"/>
            </a:rPr>
            <a:t>: </a:t>
          </a:r>
          <a:r>
            <a:rPr lang="en-US" sz="3500" kern="1200"/>
            <a:t>Transform a standard class project into a high-energy arcade experience </a:t>
          </a:r>
        </a:p>
      </dsp:txBody>
      <dsp:txXfrm>
        <a:off x="287964" y="1193"/>
        <a:ext cx="4567713" cy="2740628"/>
      </dsp:txXfrm>
    </dsp:sp>
    <dsp:sp modelId="{96749C00-CFE2-4369-85AD-3440ECC474A2}">
      <dsp:nvSpPr>
        <dsp:cNvPr id="0" name=""/>
        <dsp:cNvSpPr/>
      </dsp:nvSpPr>
      <dsp:spPr>
        <a:xfrm>
          <a:off x="5312449" y="1193"/>
          <a:ext cx="4567713" cy="27406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The </a:t>
          </a:r>
          <a:r>
            <a:rPr lang="en-US" sz="3500" kern="1200">
              <a:latin typeface="Aptos Display" panose="020F0302020204030204"/>
            </a:rPr>
            <a:t>Approach</a:t>
          </a:r>
          <a:r>
            <a:rPr lang="en-US" sz="3500" kern="1200"/>
            <a:t>: Adding “Game Juice</a:t>
          </a:r>
          <a:r>
            <a:rPr lang="en-US" sz="3500" kern="1200">
              <a:latin typeface="Aptos Display" panose="020F0302020204030204"/>
            </a:rPr>
            <a:t>”: </a:t>
          </a:r>
          <a:r>
            <a:rPr lang="en-US" sz="3500" kern="1200"/>
            <a:t>feedback that makes gameplay feel satisfying</a:t>
          </a:r>
        </a:p>
      </dsp:txBody>
      <dsp:txXfrm>
        <a:off x="5312449" y="1193"/>
        <a:ext cx="4567713" cy="2740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Curved land ridges">
            <a:extLst>
              <a:ext uri="{FF2B5EF4-FFF2-40B4-BE49-F238E27FC236}">
                <a16:creationId xmlns:a16="http://schemas.microsoft.com/office/drawing/2014/main" id="{9E963053-88F6-478C-DC51-F1F4E1822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-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006264" cy="1571164"/>
          </a:xfrm>
        </p:spPr>
        <p:txBody>
          <a:bodyPr anchor="t">
            <a:noAutofit/>
          </a:bodyPr>
          <a:lstStyle/>
          <a:p>
            <a:pPr algn="l"/>
            <a:r>
              <a:rPr lang="en-US" sz="4800" b="1"/>
              <a:t>Alien Invasion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/>
              <a:t>Hitaxi Gohil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76152AB-DB4E-43E1-BE8B-9E2B5DE4C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74329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729038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E5722-1748-DAEB-3FAE-99BB749FE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347730"/>
            <a:ext cx="10168128" cy="2052034"/>
          </a:xfrm>
        </p:spPr>
        <p:txBody>
          <a:bodyPr>
            <a:normAutofit/>
          </a:bodyPr>
          <a:lstStyle/>
          <a:p>
            <a:br>
              <a:rPr lang="en-US" sz="4800" dirty="0">
                <a:ea typeface="+mj-lt"/>
                <a:cs typeface="+mj-lt"/>
              </a:rPr>
            </a:br>
            <a:r>
              <a:rPr lang="en-US" sz="5400" b="1">
                <a:ea typeface="+mj-lt"/>
                <a:cs typeface="+mj-lt"/>
              </a:rPr>
              <a:t>Project Overview &amp; Goal</a:t>
            </a:r>
            <a:endParaRPr lang="en-US" sz="5400" b="1"/>
          </a:p>
          <a:p>
            <a:endParaRPr lang="en-US" sz="4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01050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3A0E64-F5C9-9825-0EEF-5FFE27C53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561896"/>
              </p:ext>
            </p:extLst>
          </p:nvPr>
        </p:nvGraphicFramePr>
        <p:xfrm>
          <a:off x="1115568" y="3241582"/>
          <a:ext cx="10168128" cy="2743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911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E0F5D-86A4-F63C-9785-79CC75D1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US" sz="4600" b="1">
                <a:ea typeface="+mj-lt"/>
                <a:cs typeface="+mj-lt"/>
              </a:rPr>
              <a:t>The Combo System (Player Reward)</a:t>
            </a:r>
            <a:endParaRPr lang="en-US" sz="4600" b="1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594E1-49ED-9C41-A25A-E0F1F9E36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Rewards accuracy and rhythm 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10-kill streak → 2-second Auto-Fire Combo 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Bullets change from gold → vibrant red 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“COMBO ACTIVE!” notification appears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6C6F24A-2B81-F423-5C3B-CFDBE359D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23073"/>
            <a:ext cx="5458968" cy="34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5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Picture 39" descr="A screen shot of a black sky&#10;&#10;AI-generated content may be incorrect.">
            <a:extLst>
              <a:ext uri="{FF2B5EF4-FFF2-40B4-BE49-F238E27FC236}">
                <a16:creationId xmlns:a16="http://schemas.microsoft.com/office/drawing/2014/main" id="{6E8FA7F3-4F2C-0451-AEB8-2142445F72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1211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B21D5A-682C-8C28-9AE5-DFFBC241D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  <a:ea typeface="+mj-lt"/>
                <a:cs typeface="+mj-lt"/>
              </a:rPr>
              <a:t>Visual Polish – The Starfield</a:t>
            </a:r>
            <a:endParaRPr lang="en-US" sz="5400" b="1">
              <a:solidFill>
                <a:srgbClr val="FFFFFF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5D1D60F-FD5D-03D5-8D7C-933353D3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Randomized scrolling starfield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50 stars moving continuously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Wrap-around effect (bottom → top)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Adds depth and motion</a:t>
            </a:r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51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D790F-4117-F8B8-3F8A-188AE051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en-US" sz="4600" b="1">
                <a:ea typeface="+mj-lt"/>
                <a:cs typeface="+mj-lt"/>
              </a:rPr>
              <a:t>Impact Feedback – Particle Explosions</a:t>
            </a:r>
            <a:endParaRPr lang="en-US" sz="4600" b="1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4FA8-6303-4A61-3E9A-BCF66BDB1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Aliens don’t just disappear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Each hit creates a particle explosion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15 particles move randomly and fade out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Adds weight and satisfaction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6123E1F-FF4D-57C1-437B-561C98257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17734"/>
            <a:ext cx="5458968" cy="376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3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391CB-3D7F-CBC4-E55B-C9E98D2F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br>
              <a:rPr lang="en-US" sz="5400" b="1" dirty="0"/>
            </a:br>
            <a:br>
              <a:rPr lang="en-US" sz="5400" b="1" dirty="0"/>
            </a:br>
            <a:r>
              <a:rPr lang="en-US" sz="5400" b="1"/>
              <a:t>UI &amp; Technical Growth</a:t>
            </a:r>
          </a:p>
          <a:p>
            <a:endParaRPr lang="en-US" sz="5400"/>
          </a:p>
          <a:p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1D095-AA94-91D5-512B-858185850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Persistent Kill Counter for clear progress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Modular code structure (separate files)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Cleaner, scalable, and maintainable design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Transforms a simple project into a polished game 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12403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Alien Invasion Project</vt:lpstr>
      <vt:lpstr> Project Overview &amp; Goal </vt:lpstr>
      <vt:lpstr>The Combo System (Player Reward)</vt:lpstr>
      <vt:lpstr>Visual Polish – The Starfield</vt:lpstr>
      <vt:lpstr>Impact Feedback – Particle Explosions</vt:lpstr>
      <vt:lpstr>  UI &amp; Technical Growth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103</cp:revision>
  <dcterms:created xsi:type="dcterms:W3CDTF">2026-04-09T07:45:20Z</dcterms:created>
  <dcterms:modified xsi:type="dcterms:W3CDTF">2026-04-09T08:24:50Z</dcterms:modified>
</cp:coreProperties>
</file>